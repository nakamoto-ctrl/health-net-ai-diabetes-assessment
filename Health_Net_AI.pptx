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61" r:id="rId2"/>
    <p:sldId id="257" r:id="rId3"/>
    <p:sldId id="258" r:id="rId4"/>
    <p:sldId id="259" r:id="rId5"/>
    <p:sldId id="260" r:id="rId6"/>
    <p:sldId id="262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Feature Importance</c:v>
                </c:pt>
              </c:strCache>
            </c:strRef>
          </c:tx>
          <c:spPr>
            <a:solidFill>
              <a:srgbClr val="2E8B57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Glucose</c:v>
                </c:pt>
                <c:pt idx="1">
                  <c:v>BMI</c:v>
                </c:pt>
                <c:pt idx="2">
                  <c:v>Age</c:v>
                </c:pt>
                <c:pt idx="3">
                  <c:v>Blood Pressure</c:v>
                </c:pt>
                <c:pt idx="4">
                  <c:v>Insulin</c:v>
                </c:pt>
                <c:pt idx="5">
                  <c:v>Others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85</c:v>
                </c:pt>
                <c:pt idx="1">
                  <c:v>72</c:v>
                </c:pt>
                <c:pt idx="2">
                  <c:v>58</c:v>
                </c:pt>
                <c:pt idx="3">
                  <c:v>45</c:v>
                </c:pt>
                <c:pt idx="4">
                  <c:v>38</c:v>
                </c:pt>
                <c:pt idx="5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12D-4590-8280-CB28E843F7C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de-DE" b="0" i="0" u="none" strike="noStrike">
                    <a:solidFill>
                      <a:srgbClr val="000000"/>
                    </a:solidFill>
                    <a:latin typeface="Arial"/>
                  </a:rPr>
                  <a:t>Health Features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de-DE" b="0" i="0" u="none" strike="noStrike">
                    <a:solidFill>
                      <a:srgbClr val="000000"/>
                    </a:solidFill>
                    <a:latin typeface="Arial"/>
                  </a:rPr>
                  <a:t>Importance Score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2E8B57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Random Forest</c:v>
                </c:pt>
                <c:pt idx="1">
                  <c:v>XGBoost</c:v>
                </c:pt>
                <c:pt idx="2">
                  <c:v>Neural Network</c:v>
                </c:pt>
                <c:pt idx="3">
                  <c:v>SVM</c:v>
                </c:pt>
                <c:pt idx="4">
                  <c:v>Logistic Reg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92</c:v>
                </c:pt>
                <c:pt idx="1">
                  <c:v>89</c:v>
                </c:pt>
                <c:pt idx="2">
                  <c:v>87</c:v>
                </c:pt>
                <c:pt idx="3">
                  <c:v>84</c:v>
                </c:pt>
                <c:pt idx="4">
                  <c:v>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7C3-49BF-90A8-F9C7A9A0DA0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F1-Score (%)</c:v>
                </c:pt>
              </c:strCache>
            </c:strRef>
          </c:tx>
          <c:spPr>
            <a:solidFill>
              <a:srgbClr val="4A9B6B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Random Forest</c:v>
                </c:pt>
                <c:pt idx="1">
                  <c:v>XGBoost</c:v>
                </c:pt>
                <c:pt idx="2">
                  <c:v>Neural Network</c:v>
                </c:pt>
                <c:pt idx="3">
                  <c:v>SVM</c:v>
                </c:pt>
                <c:pt idx="4">
                  <c:v>Logistic Reg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90</c:v>
                </c:pt>
                <c:pt idx="1">
                  <c:v>88</c:v>
                </c:pt>
                <c:pt idx="2">
                  <c:v>85</c:v>
                </c:pt>
                <c:pt idx="3">
                  <c:v>82</c:v>
                </c:pt>
                <c:pt idx="4">
                  <c:v>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7C3-49BF-90A8-F9C7A9A0DA0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de-DE" b="0" i="0" u="none" strike="noStrike">
                    <a:solidFill>
                      <a:srgbClr val="000000"/>
                    </a:solidFill>
                    <a:latin typeface="Arial"/>
                  </a:rPr>
                  <a:t>ML Models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5"/>
          <c:min val="7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de-DE" b="0" i="0" u="none" strike="noStrike">
                    <a:solidFill>
                      <a:srgbClr val="000000"/>
                    </a:solidFill>
                    <a:latin typeface="Arial"/>
                  </a:rPr>
                  <a:t>Performance (%)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41393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svg-0ff4cdf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80" y="56035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3689" y="1714031"/>
            <a:ext cx="8403907" cy="754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970"/>
              </a:lnSpc>
              <a:buNone/>
            </a:pPr>
            <a:r>
              <a:rPr lang="en-US" sz="270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Multi-Class Diabetes Risk Prediction for Resource-Constrained African Healthcare Settings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2885754" y="2772668"/>
            <a:ext cx="337249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Symptom-Based Early Detection System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094929" y="3258443"/>
            <a:ext cx="6953994" cy="800100"/>
          </a:xfrm>
          <a:prstGeom prst="roundRect">
            <a:avLst>
              <a:gd name="adj" fmla="val 9524"/>
            </a:avLst>
          </a:prstGeom>
          <a:solidFill>
            <a:srgbClr val="FAFAFA"/>
          </a:solidFill>
          <a:ln w="19050">
            <a:solidFill>
              <a:srgbClr val="BDC3C7"/>
            </a:solidFill>
          </a:ln>
          <a:effectLst>
            <a:outerShdw blurRad="76200" dist="19050" dir="5400000" algn="bl" rotWithShape="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1200268" y="3429893"/>
            <a:ext cx="67433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Yadah Ibyigize Kalisimbi, Mohamed Alpha, Bitonda Tuyizere Elie, Matia Mulumba Mukasa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200268" y="3696593"/>
            <a:ext cx="674331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spcBef>
                <a:spcPts val="300"/>
              </a:spcBef>
              <a:buNone/>
            </a:pPr>
            <a:r>
              <a:rPr lang="en-US" sz="10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Carnegie Mellon University Africa | AI4E Fall 2025</a:t>
            </a:r>
            <a:endParaRPr lang="en-US" sz="1050" dirty="0"/>
          </a:p>
        </p:txBody>
      </p:sp>
      <p:pic>
        <p:nvPicPr>
          <p:cNvPr id="9" name="Picture 8" descr="A logo with a map and blue text&#10;&#10;AI-generated content may be incorrect.">
            <a:extLst>
              <a:ext uri="{FF2B5EF4-FFF2-40B4-BE49-F238E27FC236}">
                <a16:creationId xmlns:a16="http://schemas.microsoft.com/office/drawing/2014/main" id="{59CF5B9F-9423-0E58-2394-27795B5503D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6087" t="18467" r="16521"/>
          <a:stretch>
            <a:fillRect/>
          </a:stretch>
        </p:blipFill>
        <p:spPr>
          <a:xfrm>
            <a:off x="2961249" y="86611"/>
            <a:ext cx="2539219" cy="16274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0b69c27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28575"/>
            <a:ext cx="9144000" cy="6477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28600" y="152400"/>
            <a:ext cx="448856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&amp; Motivation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187012" y="909974"/>
            <a:ext cx="296909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25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The </a:t>
            </a:r>
            <a:r>
              <a:rPr lang="en-US" sz="2500" b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Challenge</a:t>
            </a:r>
            <a:endParaRPr lang="en-US" sz="2500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4572000" y="1311802"/>
            <a:ext cx="4305300" cy="876300"/>
          </a:xfrm>
          <a:prstGeom prst="roundRect">
            <a:avLst>
              <a:gd name="adj" fmla="val 8696"/>
            </a:avLst>
          </a:prstGeom>
          <a:solidFill>
            <a:srgbClr val="FAFAFA"/>
          </a:solidFill>
          <a:ln w="19050">
            <a:solidFill>
              <a:srgbClr val="BDC3C7"/>
            </a:solidFill>
          </a:ln>
          <a:effectLst>
            <a:outerShdw blurRad="76200" dist="19050" dir="5400000" algn="bl" rotWithShape="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5001534" y="859929"/>
            <a:ext cx="275286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2500" b="1" dirty="0">
                <a:solidFill>
                  <a:srgbClr val="2E8B5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💡 Our Solution</a:t>
            </a:r>
            <a:endParaRPr lang="en-US" sz="25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4835652" y="1579552"/>
            <a:ext cx="4041648" cy="50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risk assessment using accessible health metrics.</a:t>
            </a:r>
            <a:endParaRPr lang="en-US" sz="1600" b="1" dirty="0"/>
          </a:p>
        </p:txBody>
      </p:sp>
      <p:sp>
        <p:nvSpPr>
          <p:cNvPr id="10" name="Text 7"/>
          <p:cNvSpPr/>
          <p:nvPr/>
        </p:nvSpPr>
        <p:spPr>
          <a:xfrm>
            <a:off x="105133" y="1481137"/>
            <a:ext cx="3132856" cy="838200"/>
          </a:xfrm>
          <a:prstGeom prst="roundRect">
            <a:avLst>
              <a:gd name="adj" fmla="val 9091"/>
            </a:avLst>
          </a:prstGeom>
          <a:solidFill>
            <a:srgbClr val="FAFAFA"/>
          </a:solidFill>
          <a:ln w="19050">
            <a:solidFill>
              <a:srgbClr val="BDC3C7"/>
            </a:solidFill>
          </a:ln>
          <a:effectLst>
            <a:outerShdw blurRad="76200" dist="19050" dir="5400000" algn="bl" rotWithShape="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393919" y="1557337"/>
            <a:ext cx="1756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537M</a:t>
            </a:r>
            <a:endParaRPr lang="en-US" sz="2250" dirty="0"/>
          </a:p>
        </p:txBody>
      </p:sp>
      <p:sp>
        <p:nvSpPr>
          <p:cNvPr id="12" name="Text 9"/>
          <p:cNvSpPr/>
          <p:nvPr/>
        </p:nvSpPr>
        <p:spPr>
          <a:xfrm>
            <a:off x="-40709" y="2016073"/>
            <a:ext cx="2984961" cy="229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4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ADULTS WITH DIABETES</a:t>
            </a:r>
            <a:endParaRPr lang="en-US" sz="1400" b="1" dirty="0">
              <a:solidFill>
                <a:srgbClr val="FF0000"/>
              </a:solidFill>
            </a:endParaRPr>
          </a:p>
        </p:txBody>
      </p:sp>
      <p:sp>
        <p:nvSpPr>
          <p:cNvPr id="13" name="Text 10"/>
          <p:cNvSpPr/>
          <p:nvPr/>
        </p:nvSpPr>
        <p:spPr>
          <a:xfrm>
            <a:off x="105133" y="2633842"/>
            <a:ext cx="3132856" cy="838200"/>
          </a:xfrm>
          <a:prstGeom prst="roundRect">
            <a:avLst>
              <a:gd name="adj" fmla="val 9091"/>
            </a:avLst>
          </a:prstGeom>
          <a:solidFill>
            <a:srgbClr val="FAFAFA"/>
          </a:solidFill>
          <a:ln w="19050">
            <a:solidFill>
              <a:srgbClr val="BDC3C7"/>
            </a:solidFill>
          </a:ln>
          <a:effectLst>
            <a:outerShdw blurRad="76200" dist="19050" dir="5400000" algn="bl" rotWithShape="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105133" y="2724824"/>
            <a:ext cx="250937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2250" dirty="0"/>
          </a:p>
        </p:txBody>
      </p:sp>
      <p:sp>
        <p:nvSpPr>
          <p:cNvPr id="15" name="Text 12"/>
          <p:cNvSpPr/>
          <p:nvPr/>
        </p:nvSpPr>
        <p:spPr>
          <a:xfrm>
            <a:off x="497278" y="3107697"/>
            <a:ext cx="2274722" cy="282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4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2 DIABETES CASES</a:t>
            </a:r>
            <a:endParaRPr lang="en-US" sz="1400" b="1" dirty="0">
              <a:solidFill>
                <a:srgbClr val="FF0000"/>
              </a:solidFill>
            </a:endParaRPr>
          </a:p>
        </p:txBody>
      </p:sp>
      <p:sp>
        <p:nvSpPr>
          <p:cNvPr id="16" name="Text 13"/>
          <p:cNvSpPr/>
          <p:nvPr/>
        </p:nvSpPr>
        <p:spPr>
          <a:xfrm>
            <a:off x="105133" y="3786548"/>
            <a:ext cx="3194140" cy="838200"/>
          </a:xfrm>
          <a:prstGeom prst="roundRect">
            <a:avLst>
              <a:gd name="adj" fmla="val 9091"/>
            </a:avLst>
          </a:prstGeom>
          <a:solidFill>
            <a:srgbClr val="FAFAFA"/>
          </a:solidFill>
          <a:ln w="19050">
            <a:solidFill>
              <a:srgbClr val="BDC3C7"/>
            </a:solidFill>
          </a:ln>
          <a:effectLst>
            <a:outerShdw blurRad="76200" dist="19050" dir="5400000" algn="bl" rotWithShape="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97034" y="3829050"/>
            <a:ext cx="235056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$966B</a:t>
            </a:r>
            <a:endParaRPr lang="en-US" sz="2250" dirty="0"/>
          </a:p>
        </p:txBody>
      </p:sp>
      <p:sp>
        <p:nvSpPr>
          <p:cNvPr id="18" name="Text 15"/>
          <p:cNvSpPr/>
          <p:nvPr/>
        </p:nvSpPr>
        <p:spPr>
          <a:xfrm>
            <a:off x="228600" y="4277916"/>
            <a:ext cx="2292710" cy="233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4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 COST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19" name="Text 3">
            <a:extLst>
              <a:ext uri="{FF2B5EF4-FFF2-40B4-BE49-F238E27FC236}">
                <a16:creationId xmlns:a16="http://schemas.microsoft.com/office/drawing/2014/main" id="{D3CDE362-39FA-3EAB-927A-9487761F157F}"/>
              </a:ext>
            </a:extLst>
          </p:cNvPr>
          <p:cNvSpPr/>
          <p:nvPr/>
        </p:nvSpPr>
        <p:spPr>
          <a:xfrm>
            <a:off x="187012" y="4724400"/>
            <a:ext cx="4305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¹ </a:t>
            </a:r>
            <a:r>
              <a:rPr lang="en-US" sz="100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IDF Diabetes Atlas (2021). Diabetes prevalence in sub-Saharan Africa</a:t>
            </a:r>
            <a:r>
              <a:rPr lang="en-US" sz="110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500" i="1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3A51EDBF-63C1-5333-B8E0-0D26536B3A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2245611"/>
            <a:ext cx="4198912" cy="277772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c4f15d2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6477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28600" y="152400"/>
            <a:ext cx="472173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Description &amp; Initial Analysis</a:t>
            </a:r>
            <a:endParaRPr lang="en-US" sz="2250" dirty="0"/>
          </a:p>
        </p:txBody>
      </p:sp>
      <p:sp>
        <p:nvSpPr>
          <p:cNvPr id="4" name="Text 1"/>
          <p:cNvSpPr/>
          <p:nvPr/>
        </p:nvSpPr>
        <p:spPr>
          <a:xfrm>
            <a:off x="152400" y="1104900"/>
            <a:ext cx="4305300" cy="1866900"/>
          </a:xfrm>
          <a:prstGeom prst="roundRect">
            <a:avLst>
              <a:gd name="adj" fmla="val 4082"/>
            </a:avLst>
          </a:prstGeom>
          <a:solidFill>
            <a:srgbClr val="FAFAFA"/>
          </a:solidFill>
          <a:ln w="19050">
            <a:solidFill>
              <a:srgbClr val="BDC3C7"/>
            </a:solidFill>
          </a:ln>
          <a:effectLst>
            <a:outerShdw blurRad="76200" dist="19050" dir="5400000" algn="bl" rotWithShape="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323850" y="1276350"/>
            <a:ext cx="20305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Dataset Overview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323850" y="1619250"/>
            <a:ext cx="3962400" cy="118110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marL="114300" indent="-114300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datasets</a:t>
            </a: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training</a:t>
            </a:r>
            <a:endParaRPr lang="en-US" sz="1350" dirty="0"/>
          </a:p>
          <a:p>
            <a:pPr marL="114300" indent="-114300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features:</a:t>
            </a: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BMI, Age, Glucose, BP</a:t>
            </a:r>
            <a:endParaRPr lang="en-US" sz="1350" dirty="0"/>
          </a:p>
          <a:p>
            <a:pPr marL="114300" indent="-114300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preprocessing</a:t>
            </a: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with engineering</a:t>
            </a:r>
            <a:endParaRPr lang="en-US" sz="1350" dirty="0"/>
          </a:p>
          <a:p>
            <a:pPr marL="114300" indent="-114300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Balanced approach</a:t>
            </a: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using SMOTE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52400" y="3200400"/>
            <a:ext cx="4305300" cy="1562100"/>
          </a:xfrm>
          <a:prstGeom prst="roundRect">
            <a:avLst>
              <a:gd name="adj" fmla="val 4878"/>
            </a:avLst>
          </a:prstGeom>
          <a:solidFill>
            <a:srgbClr val="FAFAFA"/>
          </a:solidFill>
          <a:ln w="19050">
            <a:solidFill>
              <a:srgbClr val="BDC3C7"/>
            </a:solidFill>
          </a:ln>
          <a:effectLst>
            <a:outerShdw blurRad="76200" dist="19050" dir="5400000" algn="bl" rotWithShape="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323850" y="3371850"/>
            <a:ext cx="20305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Key Insights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323850" y="3714750"/>
            <a:ext cx="3962400" cy="87630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marL="114300" indent="-1143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BMI strongly correlates with diabetes</a:t>
            </a:r>
            <a:endParaRPr lang="en-US" sz="1350" dirty="0"/>
          </a:p>
          <a:p>
            <a:pPr marL="114300" indent="-1143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 shows non-linear patterns</a:t>
            </a:r>
            <a:endParaRPr lang="en-US" sz="1350" dirty="0"/>
          </a:p>
          <a:p>
            <a:pPr marL="114300" indent="-1143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Glucose is strongest predictor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4686300" y="1104900"/>
            <a:ext cx="4305300" cy="3657600"/>
          </a:xfrm>
          <a:prstGeom prst="roundRect">
            <a:avLst>
              <a:gd name="adj" fmla="val 2083"/>
            </a:avLst>
          </a:prstGeom>
          <a:solidFill>
            <a:srgbClr val="FAFAFA"/>
          </a:solidFill>
          <a:ln w="19050">
            <a:solidFill>
              <a:srgbClr val="BDC3C7"/>
            </a:solidFill>
          </a:ln>
          <a:effectLst>
            <a:outerShdw blurRad="76200" dist="19050" dir="5400000" algn="bl" rotWithShape="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4857750" y="1276350"/>
            <a:ext cx="269119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Feature Distribution Analysis</a:t>
            </a:r>
            <a:endParaRPr lang="en-US" sz="1350" dirty="0"/>
          </a:p>
        </p:txBody>
      </p:sp>
      <p:graphicFrame>
        <p:nvGraphicFramePr>
          <p:cNvPr id="12" name="Chart 0"/>
          <p:cNvGraphicFramePr/>
          <p:nvPr/>
        </p:nvGraphicFramePr>
        <p:xfrm>
          <a:off x="4857750" y="1619250"/>
          <a:ext cx="3962400" cy="2971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86fced9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6477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28600" y="152400"/>
            <a:ext cx="478002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 &amp; Initial Experiments</a:t>
            </a:r>
            <a:endParaRPr lang="en-US" sz="2250" dirty="0"/>
          </a:p>
        </p:txBody>
      </p:sp>
      <p:sp>
        <p:nvSpPr>
          <p:cNvPr id="4" name="Text 1"/>
          <p:cNvSpPr/>
          <p:nvPr/>
        </p:nvSpPr>
        <p:spPr>
          <a:xfrm>
            <a:off x="152400" y="1076324"/>
            <a:ext cx="4305300" cy="3601183"/>
          </a:xfrm>
          <a:prstGeom prst="roundRect">
            <a:avLst>
              <a:gd name="adj" fmla="val 3571"/>
            </a:avLst>
          </a:prstGeom>
          <a:solidFill>
            <a:srgbClr val="FAFAFA"/>
          </a:solidFill>
          <a:ln w="19050">
            <a:solidFill>
              <a:srgbClr val="BDC3C7"/>
            </a:solidFill>
          </a:ln>
          <a:effectLst>
            <a:outerShdw blurRad="76200" dist="19050" dir="5400000" algn="bl" rotWithShape="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323850" y="1247775"/>
            <a:ext cx="20305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🔬 ML Pipeline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323850" y="1590675"/>
            <a:ext cx="3962400" cy="2854716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marL="114300" indent="-114300" algn="l">
              <a:lnSpc>
                <a:spcPts val="2100"/>
              </a:lnSpc>
              <a:buSzPct val="100000"/>
              <a:buChar char="•"/>
            </a:pPr>
            <a:r>
              <a:rPr lang="en-US" sz="15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Preprocessing:</a:t>
            </a: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Scaling, encoding</a:t>
            </a:r>
          </a:p>
          <a:p>
            <a:pPr algn="l">
              <a:lnSpc>
                <a:spcPts val="2100"/>
              </a:lnSpc>
              <a:buSzPct val="100000"/>
            </a:pPr>
            <a:endParaRPr lang="en-US" sz="1500" dirty="0"/>
          </a:p>
          <a:p>
            <a:pPr marL="114300" indent="-114300" algn="l">
              <a:lnSpc>
                <a:spcPts val="2100"/>
              </a:lnSpc>
              <a:buSzPct val="100000"/>
              <a:buChar char="•"/>
            </a:pPr>
            <a:r>
              <a:rPr lang="en-US" sz="15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Engineering:</a:t>
            </a: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BMI categories, interactions</a:t>
            </a:r>
          </a:p>
          <a:p>
            <a:pPr algn="l">
              <a:lnSpc>
                <a:spcPts val="2100"/>
              </a:lnSpc>
              <a:buSzPct val="100000"/>
            </a:pPr>
            <a:endParaRPr lang="en-US" sz="1500" dirty="0"/>
          </a:p>
          <a:p>
            <a:pPr marL="114300" indent="-114300" algn="l">
              <a:lnSpc>
                <a:spcPts val="2100"/>
              </a:lnSpc>
              <a:buSzPct val="100000"/>
              <a:buChar char="•"/>
            </a:pPr>
            <a:r>
              <a:rPr lang="en-US" sz="15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Balancing:</a:t>
            </a: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SMOTE technique</a:t>
            </a:r>
          </a:p>
          <a:p>
            <a:pPr algn="l">
              <a:lnSpc>
                <a:spcPts val="2100"/>
              </a:lnSpc>
              <a:buSzPct val="100000"/>
            </a:pPr>
            <a:endParaRPr lang="en-US" sz="1500" dirty="0"/>
          </a:p>
          <a:p>
            <a:pPr marL="114300" indent="-114300" algn="l">
              <a:lnSpc>
                <a:spcPts val="2100"/>
              </a:lnSpc>
              <a:buSzPct val="100000"/>
              <a:buChar char="•"/>
            </a:pPr>
            <a:r>
              <a:rPr lang="en-US" sz="15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Training:</a:t>
            </a: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Multiple algorithms with tuning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686300" y="1104900"/>
            <a:ext cx="4305300" cy="3657600"/>
          </a:xfrm>
          <a:prstGeom prst="roundRect">
            <a:avLst>
              <a:gd name="adj" fmla="val 2083"/>
            </a:avLst>
          </a:prstGeom>
          <a:solidFill>
            <a:srgbClr val="FAFAFA"/>
          </a:solidFill>
          <a:ln w="19050">
            <a:solidFill>
              <a:srgbClr val="BDC3C7"/>
            </a:solidFill>
          </a:ln>
          <a:effectLst>
            <a:outerShdw blurRad="76200" dist="19050" dir="5400000" algn="bl" rotWithShape="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4857750" y="1276350"/>
            <a:ext cx="296322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Model Performance Comparison</a:t>
            </a:r>
            <a:endParaRPr lang="en-US" sz="1350" dirty="0"/>
          </a:p>
        </p:txBody>
      </p:sp>
      <p:graphicFrame>
        <p:nvGraphicFramePr>
          <p:cNvPr id="11" name="Chart 0"/>
          <p:cNvGraphicFramePr/>
          <p:nvPr/>
        </p:nvGraphicFramePr>
        <p:xfrm>
          <a:off x="4857750" y="1619250"/>
          <a:ext cx="3962400" cy="2971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5d8d2c1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6477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28600" y="152400"/>
            <a:ext cx="443998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Progress &amp; Next Steps</a:t>
            </a:r>
            <a:endParaRPr lang="en-US" sz="2250" dirty="0"/>
          </a:p>
        </p:txBody>
      </p:sp>
      <p:sp>
        <p:nvSpPr>
          <p:cNvPr id="4" name="Text 1"/>
          <p:cNvSpPr/>
          <p:nvPr/>
        </p:nvSpPr>
        <p:spPr>
          <a:xfrm>
            <a:off x="152400" y="847725"/>
            <a:ext cx="4305300" cy="2171700"/>
          </a:xfrm>
          <a:prstGeom prst="roundRect">
            <a:avLst>
              <a:gd name="adj" fmla="val 3509"/>
            </a:avLst>
          </a:prstGeom>
          <a:solidFill>
            <a:srgbClr val="FAFAFA"/>
          </a:solidFill>
          <a:ln w="19050">
            <a:solidFill>
              <a:srgbClr val="BDC3C7"/>
            </a:solidFill>
          </a:ln>
          <a:effectLst>
            <a:outerShdw blurRad="76200" dist="19050" dir="5400000" algn="bl" rotWithShape="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323850" y="1019175"/>
            <a:ext cx="20305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Completed Features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323850" y="1362075"/>
            <a:ext cx="3962400" cy="148590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marL="114300" indent="-114300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Web Interface</a:t>
            </a: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using Gradio</a:t>
            </a:r>
            <a:endParaRPr lang="en-US" sz="1350" dirty="0"/>
          </a:p>
          <a:p>
            <a:pPr marL="114300" indent="-114300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ML Models</a:t>
            </a: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with tuning</a:t>
            </a:r>
            <a:endParaRPr lang="en-US" sz="1350" dirty="0"/>
          </a:p>
          <a:p>
            <a:pPr marL="114300" indent="-114300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 Integration</a:t>
            </a: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interpretability</a:t>
            </a:r>
            <a:endParaRPr lang="en-US" sz="1350" dirty="0"/>
          </a:p>
          <a:p>
            <a:pPr marL="114300" indent="-114300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Visualizations</a:t>
            </a: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analysis</a:t>
            </a:r>
            <a:endParaRPr lang="en-US" sz="1350" dirty="0"/>
          </a:p>
          <a:p>
            <a:pPr marL="114300" indent="-114300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Recommendations</a:t>
            </a: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system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686300" y="847725"/>
            <a:ext cx="4305300" cy="2171700"/>
          </a:xfrm>
          <a:prstGeom prst="roundRect">
            <a:avLst>
              <a:gd name="adj" fmla="val 3509"/>
            </a:avLst>
          </a:prstGeom>
          <a:solidFill>
            <a:srgbClr val="FAFAFA"/>
          </a:solidFill>
          <a:ln w="19050">
            <a:solidFill>
              <a:srgbClr val="BDC3C7"/>
            </a:solidFill>
          </a:ln>
          <a:effectLst>
            <a:outerShdw blurRad="76200" dist="19050" dir="5400000" algn="bl" rotWithShape="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4857750" y="1019175"/>
            <a:ext cx="20305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Next Steps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857750" y="1362075"/>
            <a:ext cx="3962400" cy="148590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marL="114300" indent="-1143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validation with additional datasets</a:t>
            </a:r>
            <a:endParaRPr lang="en-US" sz="1350" dirty="0"/>
          </a:p>
          <a:p>
            <a:pPr marL="114300" indent="-1143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optimization and deployment</a:t>
            </a:r>
            <a:endParaRPr lang="en-US" sz="1350" dirty="0"/>
          </a:p>
          <a:p>
            <a:pPr marL="114300" indent="-1143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interface enhancements</a:t>
            </a:r>
            <a:endParaRPr lang="en-US" sz="1350" dirty="0"/>
          </a:p>
          <a:p>
            <a:pPr marL="114300" indent="-1143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validation studies</a:t>
            </a:r>
            <a:endParaRPr lang="en-US" sz="1350" dirty="0"/>
          </a:p>
          <a:p>
            <a:pPr marL="114300" indent="-1143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with healthcare systems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152400" y="3248025"/>
            <a:ext cx="8839200" cy="1104900"/>
          </a:xfrm>
          <a:prstGeom prst="roundRect">
            <a:avLst>
              <a:gd name="adj" fmla="val 6897"/>
            </a:avLst>
          </a:prstGeom>
          <a:solidFill>
            <a:srgbClr val="FAFAFA"/>
          </a:solidFill>
          <a:ln w="19050">
            <a:solidFill>
              <a:srgbClr val="BDC3C7"/>
            </a:solidFill>
          </a:ln>
          <a:effectLst>
            <a:outerShdw blurRad="76200" dist="19050" dir="5400000" algn="bl" rotWithShape="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323850" y="3419475"/>
            <a:ext cx="250659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Live Demo Ready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323850" y="3952875"/>
            <a:ext cx="499376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web-based prediction interface with real-time risk assessment.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37608" y="3552825"/>
            <a:ext cx="109056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92%</a:t>
            </a:r>
            <a:endParaRPr lang="en-US" sz="2250" dirty="0"/>
          </a:p>
        </p:txBody>
      </p:sp>
      <p:sp>
        <p:nvSpPr>
          <p:cNvPr id="14" name="Text 11"/>
          <p:cNvSpPr/>
          <p:nvPr/>
        </p:nvSpPr>
        <p:spPr>
          <a:xfrm>
            <a:off x="5437608" y="3895725"/>
            <a:ext cx="10905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ACCURACY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070b153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477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28600" y="152400"/>
            <a:ext cx="451770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 &amp; Acknowledgments</a:t>
            </a:r>
            <a:endParaRPr lang="en-US" sz="2250" dirty="0"/>
          </a:p>
        </p:txBody>
      </p:sp>
      <p:sp>
        <p:nvSpPr>
          <p:cNvPr id="4" name="Text 1"/>
          <p:cNvSpPr/>
          <p:nvPr/>
        </p:nvSpPr>
        <p:spPr>
          <a:xfrm>
            <a:off x="152400" y="857250"/>
            <a:ext cx="8839200" cy="1771650"/>
          </a:xfrm>
          <a:prstGeom prst="roundRect">
            <a:avLst>
              <a:gd name="adj" fmla="val 4301"/>
            </a:avLst>
          </a:prstGeom>
          <a:solidFill>
            <a:srgbClr val="FAFAFA"/>
          </a:solidFill>
          <a:ln w="19050">
            <a:solidFill>
              <a:srgbClr val="BDC3C7"/>
            </a:solidFill>
          </a:ln>
          <a:effectLst>
            <a:outerShdw blurRad="76200" dist="19050" dir="5400000" algn="bl" rotWithShape="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238887" y="1047750"/>
            <a:ext cx="866622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¹ IDF Diabetes Atlas (2021). Diabetes prevalence in sub-Saharan Africa.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316611" y="1409700"/>
            <a:ext cx="866622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² Anand, S., &amp; Bärnighausen, T. (2008). Human resources and health outcomes. </a:t>
            </a:r>
            <a:r>
              <a:rPr lang="en-US" sz="150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Lancet</a:t>
            </a: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364(9445), 1603-1609.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238887" y="2017764"/>
            <a:ext cx="866622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³ Kahn, R., et al. (2010). Age at initiation and frequency of screening to detect type 2 diabetes. </a:t>
            </a:r>
            <a:r>
              <a:rPr lang="en-US" sz="150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 Intern Med</a:t>
            </a: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138(3), 212-218.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323850" y="2990850"/>
            <a:ext cx="866622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⁴ Knowler, W. C., et al. (2002). Reduction in the incidence of type 2 diabetes with lifestyle intervention. </a:t>
            </a:r>
            <a:r>
              <a:rPr lang="en-US" sz="150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NEJM</a:t>
            </a: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346(6), 393-403.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23850" y="3562350"/>
            <a:ext cx="866622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⁵ Kaggle Multi-Class Diabetes Dataset (2023). Available at: </a:t>
            </a:r>
            <a:r>
              <a:rPr lang="en-US" sz="150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kaggle.com/datasets/yasserhessein/multiclass-diabetes-dataset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23850" y="4133850"/>
            <a:ext cx="866622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⁶ Chawla, N. V., et al. (2002). SMOTE: Synthetic minority oversampling technique. </a:t>
            </a:r>
            <a:r>
              <a:rPr lang="en-US" sz="150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Journal of AI Research</a:t>
            </a: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16, 321-357.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52400" y="3028950"/>
            <a:ext cx="8839200" cy="1657350"/>
          </a:xfrm>
          <a:prstGeom prst="roundRect">
            <a:avLst>
              <a:gd name="adj" fmla="val 4598"/>
            </a:avLst>
          </a:prstGeom>
          <a:solidFill>
            <a:srgbClr val="FAFAFA"/>
          </a:solidFill>
          <a:ln w="19050">
            <a:solidFill>
              <a:srgbClr val="BDC3C7"/>
            </a:solidFill>
          </a:ln>
          <a:effectLst>
            <a:outerShdw blurRad="76200" dist="19050" dir="5400000" algn="bl" rotWithShape="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2439448" y="3276600"/>
            <a:ext cx="426510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🙏 Thank You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316611" y="3657600"/>
            <a:ext cx="85107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Discussion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16611" y="3962400"/>
            <a:ext cx="851077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Towards accessible healthcare for all African communities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1145</TotalTime>
  <Words>416</Words>
  <Application>Microsoft Office PowerPoint</Application>
  <PresentationFormat>On-screen Show (16:9)</PresentationFormat>
  <Paragraphs>73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Tahoma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Mohamed Alpha</cp:lastModifiedBy>
  <cp:revision>6</cp:revision>
  <dcterms:created xsi:type="dcterms:W3CDTF">2025-11-17T14:43:05Z</dcterms:created>
  <dcterms:modified xsi:type="dcterms:W3CDTF">2025-11-18T11:13:00Z</dcterms:modified>
</cp:coreProperties>
</file>
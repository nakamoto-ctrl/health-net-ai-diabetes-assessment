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embeddedFontLst>
    <p:embeddedFont>
      <p:font typeface="Outfit" panose="020B0604020202020204" charset="0"/>
      <p:regular r:id="rId14"/>
      <p:bold r:id="rId15"/>
    </p:embeddedFont>
    <p:embeddedFont>
      <p:font typeface="Plus Jakarta San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E995311C-6993-7DFC-555C-2939AD48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>
            <a:extLst>
              <a:ext uri="{FF2B5EF4-FFF2-40B4-BE49-F238E27FC236}">
                <a16:creationId xmlns:a16="http://schemas.microsoft.com/office/drawing/2014/main" id="{634B9E08-32CA-BB7D-E913-8275BC708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>
            <a:extLst>
              <a:ext uri="{FF2B5EF4-FFF2-40B4-BE49-F238E27FC236}">
                <a16:creationId xmlns:a16="http://schemas.microsoft.com/office/drawing/2014/main" id="{01248541-1E2F-8950-1249-2902397FF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297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2350" y="4152900"/>
            <a:ext cx="50673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1707058"/>
            <a:ext cx="100012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Health-Net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2728019"/>
            <a:ext cx="9525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Multi-Class Diabetes Risk Prediction for Resource-Constrained African Healthcare Settings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62350" y="4448175"/>
            <a:ext cx="5067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Mohamed Alpha • El Yadah Ibyigize Kalisimbi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Bitonda Tuyizere Elie • Matia Mulumba Mukasa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44131" y="5610225"/>
            <a:ext cx="506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Carnegie Mellon University Africa | AI for Engineers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57463" y="423268"/>
            <a:ext cx="4790598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The Silent Epidemic</a:t>
            </a:r>
            <a:endParaRPr dirty="0"/>
          </a:p>
        </p:txBody>
      </p:sp>
      <p:sp>
        <p:nvSpPr>
          <p:cNvPr id="96" name="Google Shape;96;p14"/>
          <p:cNvSpPr/>
          <p:nvPr/>
        </p:nvSpPr>
        <p:spPr>
          <a:xfrm>
            <a:off x="657463" y="1162674"/>
            <a:ext cx="4562475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1560640"/>
            <a:ext cx="479059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7171"/>
                </a:solidFill>
                <a:latin typeface="Outfit"/>
                <a:ea typeface="Outfit"/>
                <a:cs typeface="Outfit"/>
                <a:sym typeface="Outfit"/>
              </a:rPr>
              <a:t>A Crisis in Numbers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757236" y="2105964"/>
            <a:ext cx="456247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Sub-Saharan Africa faces a projected 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134% increase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 diabetes cases by 2045, the highest globally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[1]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38200" y="471678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6762" y="3655025"/>
            <a:ext cx="427672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70% Undiagnosed: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Due to lack of accessible screening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[2]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5648146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57236" y="4636242"/>
            <a:ext cx="427672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Gap: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Only 1 doctor per 10,000 people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[3]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6579512"/>
            <a:ext cx="123825" cy="27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57235" y="5589509"/>
            <a:ext cx="4276725" cy="28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 Barrier: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Lab tests ($19) vs. Avg Health Spend ($100/yr)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[3]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263378"/>
            <a:ext cx="3422600" cy="382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263378"/>
            <a:ext cx="3422600" cy="382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263378"/>
            <a:ext cx="3422600" cy="3824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00748" y="3577828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Multi-Class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71550" y="4187428"/>
            <a:ext cx="28320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Identifies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Pre-Diabetic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patients, enabling intervention that reduces progression by 58% </a:t>
            </a:r>
            <a:r>
              <a:rPr lang="en-US" sz="18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[6]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09099" y="3577828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Symptom-Based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79900" y="4187428"/>
            <a:ext cx="28320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Uses basic clinical metrics (BMI, BP, Age) instead of expensive lab tests like HbA1c </a:t>
            </a:r>
            <a:r>
              <a:rPr lang="en-US" sz="18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[4]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17449" y="3577828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SMS Integrated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88250" y="4187428"/>
            <a:ext cx="28320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Low-cost ($1/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deployment via SMS for areas with limited internet connectivity </a:t>
            </a:r>
            <a:r>
              <a:rPr lang="en-US" sz="18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[4]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650" y="2653903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72001" y="2653903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9889" y="2653903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76275" y="865137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Introducing Health-Net AI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76275" y="1579512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7096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589335"/>
            <a:ext cx="5133975" cy="517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280493"/>
            <a:ext cx="51149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71550" y="2189410"/>
            <a:ext cx="477059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Why Western Models Fail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71550" y="2799010"/>
            <a:ext cx="45434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 2 diabetes manifests differently in African populations: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71550" y="5227439"/>
            <a:ext cx="45434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Approach: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Algorithms trained specifically on local data to capture these critical nuances.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38225" y="3684656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57300" y="3682751"/>
            <a:ext cx="425767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Younger Onset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age compared to global averages.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38225" y="4616023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57300" y="4614118"/>
            <a:ext cx="4257675" cy="42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Lower BMI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phenotype </a:t>
            </a:r>
            <a:r>
              <a:rPr lang="en-US" sz="18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[14]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76275" y="474910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Tailored for African Phenotypes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76275" y="1189285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957833"/>
            <a:ext cx="5133975" cy="443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7833"/>
            <a:ext cx="5133975" cy="443611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71550" y="2557908"/>
            <a:ext cx="477059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Data Strategy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71550" y="3167508"/>
            <a:ext cx="45434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264 Patient Records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Features: Age, BMI, BP, Glucose, etc.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71550" y="4127450"/>
            <a:ext cx="45434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Engineering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Added </a:t>
            </a:r>
            <a:r>
              <a:rPr lang="en-US" sz="1800" b="0" i="1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Metabolic Score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&amp; </a:t>
            </a:r>
            <a:r>
              <a:rPr lang="en-US" sz="1800" b="0" i="1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TG/HDL Ratio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capture complex risk factors.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77025" y="2557908"/>
            <a:ext cx="477059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Addressing Imbalance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77025" y="3167508"/>
            <a:ext cx="45434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Dataset was heavily skewed towards 'Normal' cases.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77025" y="4493121"/>
            <a:ext cx="4543425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Applied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SMOTE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(Synthetic Minority Over-sampling Technique) to training data to ensure robust learning </a:t>
            </a:r>
            <a:r>
              <a:rPr lang="en-US" sz="180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[7]</a:t>
            </a: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596008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59600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76275" y="843408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Methodology &amp; Data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76275" y="1557783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979562"/>
            <a:ext cx="10839450" cy="439266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676275" y="2543323"/>
            <a:ext cx="108394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 Forest achieved superior accuracy, specifically in identifying the critical "Pre-Diabetic" class.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6275" y="865137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Model Comparison Results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76275" y="1579512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7096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899" y="922408"/>
            <a:ext cx="5133975" cy="573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280493"/>
            <a:ext cx="51149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71550" y="1112995"/>
            <a:ext cx="477059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Patient Interface</a:t>
            </a:r>
            <a:endParaRPr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934879" y="4066519"/>
            <a:ext cx="477059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Practitioner Interface</a:t>
            </a:r>
            <a:endParaRPr dirty="0"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6787" y="113204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1038225" y="1765084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1257300" y="1669524"/>
            <a:ext cx="425767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Self-Screening: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Simple questionnaires.</a:t>
            </a:r>
            <a:endParaRPr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1059733" y="292113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1171575" y="2864761"/>
            <a:ext cx="425767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Accessibility: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Local languages (Swahili, Hausa) &amp; SMS support.</a:t>
            </a:r>
            <a:endParaRPr dirty="0"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350" y="4023568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97820" y="4647367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1191339" y="4582870"/>
            <a:ext cx="425767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 Support: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Clinical risk stratification.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1038225" y="5812660"/>
            <a:ext cx="123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1191339" y="5575339"/>
            <a:ext cx="4257675" cy="78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Efficiency: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Rapid triaging of high-risk cases.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676275" y="-10864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Dual-User Interface System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76275" y="703510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072878"/>
            <a:ext cx="3422600" cy="4205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072878"/>
            <a:ext cx="3422600" cy="4205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072878"/>
            <a:ext cx="3422600" cy="4205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900748" y="3387328"/>
            <a:ext cx="29736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Geographic Expansion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71550" y="4377928"/>
            <a:ext cx="28320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 with larger datasets across diverse African regions to improve generalizability.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609099" y="3387328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EHR Integration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679900" y="3996928"/>
            <a:ext cx="28320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 Health-Net AI directly with Electronic Health Records for seamless data flow.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317449" y="3387328"/>
            <a:ext cx="29736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Clinical Trials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388250" y="3996928"/>
            <a:ext cx="283205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 prospective studies to validate real-world impact on patient outcomes.</a:t>
            </a:r>
            <a:endParaRPr/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650" y="2463403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72001" y="2463403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1789" y="2463403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676275" y="865137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Future Directions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76275" y="1579512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/>
          <p:nvPr/>
        </p:nvSpPr>
        <p:spPr>
          <a:xfrm>
            <a:off x="676275" y="3679626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76275" y="4662487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76275" y="1579512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2;p22">
            <a:extLst>
              <a:ext uri="{FF2B5EF4-FFF2-40B4-BE49-F238E27FC236}">
                <a16:creationId xmlns:a16="http://schemas.microsoft.com/office/drawing/2014/main" id="{764239CB-2838-CA28-E327-83458DD9BE70}"/>
              </a:ext>
            </a:extLst>
          </p:cNvPr>
          <p:cNvSpPr txBox="1"/>
          <p:nvPr/>
        </p:nvSpPr>
        <p:spPr>
          <a:xfrm>
            <a:off x="3572952" y="2571898"/>
            <a:ext cx="73506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PROTOTYPE DEMO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676275" y="2116038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[1] IDF Diabetes Atlas 2021.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6275" y="2710308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[2] WHO Africa, "Diabetes prevention challenges," 2023.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76275" y="3670250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[3] Manne-Goehler et al., "Care of patients with type 2 diabetes across Africa," 2020.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6275" y="4630191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[4] Labrique et al., "mHealth in Sub-Saharan Africa," 2014.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6275" y="5590133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[5] Ebrahim et al., "Machine learning for diabetes in Ethiopia," 2023.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381750" y="2116038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[6] Knowler et al., "Reduction in incidence of type 2 diabetes," NEJM 2002.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381750" y="3075979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[7] Chawla et al., "SMOTE: Synthetic Minority Over-sampling," 2002.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381750" y="4035921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[8] Zou et al., "Predicting diabetes with ML," 2018.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81750" y="4995862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[14] Atun et al., "Diabetes in sub-Saharan Africa," Lancet 2017.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381750" y="5955803"/>
            <a:ext cx="5133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[19] Abid et al., "Gradio," 2019.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6275" y="773013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References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676275" y="1487388"/>
            <a:ext cx="1083945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80B229D0-FDA1-B987-D112-43DA53FC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2;p22">
            <a:extLst>
              <a:ext uri="{FF2B5EF4-FFF2-40B4-BE49-F238E27FC236}">
                <a16:creationId xmlns:a16="http://schemas.microsoft.com/office/drawing/2014/main" id="{77B38F86-0E79-B659-5BD4-C8F3459B593D}"/>
              </a:ext>
            </a:extLst>
          </p:cNvPr>
          <p:cNvSpPr txBox="1"/>
          <p:nvPr/>
        </p:nvSpPr>
        <p:spPr>
          <a:xfrm>
            <a:off x="5267095" y="5098356"/>
            <a:ext cx="150049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Q&amp;A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2E4FC0-B1B9-3D1C-3D4A-2B27E1A10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924" y="521691"/>
            <a:ext cx="9152413" cy="368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1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Widescreen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Plus Jakarta Sans</vt:lpstr>
      <vt:lpstr>Calibri</vt:lpstr>
      <vt:lpstr>Arial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Alpha</cp:lastModifiedBy>
  <cp:revision>1</cp:revision>
  <dcterms:modified xsi:type="dcterms:W3CDTF">2025-12-01T20:25:37Z</dcterms:modified>
</cp:coreProperties>
</file>